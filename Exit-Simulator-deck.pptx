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АНДРІЙ · Executive summary</a:t>
            </a:r>
          </a:p>
          <a:p>
            <a:r>
              <a:t>Добрий день! Ми команда CC-146. У фонду три компанії, $15m вільних грошей і 24 місяці до продажу. Наша відповідь в одному реченні: фокус на Security Hardware подвоює вартість портфеля.</a:t>
            </a:r>
          </a:p>
          <a:p>
            <a:r>
              <a:t>Як ділимо гроші, видно на синій смузі. $10m і 70% часу команди йдуть у Security. E-commerce отримує лише $3m позики під жорсткі умови. IT не отримує грошей і оптимізується за власний рахунок. $2m тримаємо в резерві.</a:t>
            </a:r>
          </a:p>
          <a:p>
            <a:r>
              <a:t>Чому Security, видно праворуч. Без нашого плану частка фонду в Security через 24 місяці коштує $101m, за планом — $182m. Найбільший шматок, +$62m, дає не ріст продажів, а переоцінка: покупець заплатить 9 річних прибутків компанії замість 6, бо виробництво буде в Євросоюзі, а не лише в Україні.</a:t>
            </a:r>
          </a:p>
          <a:p>
            <a:r>
              <a:t>Внизу підсумок для всього портфеля: $254.5m за планом проти $125.7m без дій, тобто вдвічі більше. А Security лишається пріоритетом номер один у 99.2% з 10 000 перевірок. Усі цифри можна перевірити на нашому сайті: QR тут і на останньому слайді.</a:t>
            </a:r>
          </a:p>
          <a:p>
            <a:r>
              <a:t>Саша пояснить, чому саме Security першою.</a:t>
            </a:r>
          </a:p>
          <a:p>
            <a:r>
              <a:t>Для себе: «Частка фонду» — скільки коштують акції, які фонд має в компанії. У Security фонду належить 20%. «9x EBITDA» — компанію оцінюють як 9 її річних операційних прибутків. Чим менше ризиків бачить покупець, тим більше «x» він платить. $254.5m = Security $182m + IT $50m + E-commerce $22m.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САША · Пріоритет портфеля</a:t>
            </a:r>
          </a:p>
          <a:p>
            <a:r>
              <a:t>Щоб вирішити, кому віддати фокус, ми оцінили кожну компанію за чотирма критеріями від 1 до 5: скільки грошей фонду під ризиком, наскільки це терміново, чи може фонд реально вплинути і чи можна компанію продати за 24 місяці. Оцінки перемножуємо, це наша «лінза». Security набирає 400 балів, IT — 81, E-commerce — 20.</a:t>
            </a:r>
          </a:p>
          <a:p>
            <a:r>
              <a:t>Логічне питання: чому не рятуємо E-commerce, адже там найбільша криза? Бо в компанії $35m боргу. Частка фонду там коштує лише близько $7.5m, і будь-які $10m «порятунку» пішли б насамперед кредиторам, а не фонду.</a:t>
            </a:r>
          </a:p>
          <a:p>
            <a:r>
              <a:t>Ми перевірили рейтинг на стійкість: 10 000 разів випадково зсували кожну оцінку на один бал. Security була першою в 99.2% випадків.</a:t>
            </a:r>
          </a:p>
          <a:p>
            <a:r>
              <a:t>Для себе: Множимо, а не додаємо, щоб слабкий бал в одному критерії не ховався за сильним в іншому. Кредитори отримують гроші раніше за власників. Поки борг більший за вартість бізнесу, нові гроші власника фактично йдуть на борг.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САША · Розподіл капіталу</a:t>
            </a:r>
          </a:p>
          <a:p>
            <a:r>
              <a:t>Компанії просять разом $33m, а в нас $15m. Тож гроші йдуть туди, де вони множаться.</a:t>
            </a:r>
          </a:p>
          <a:p>
            <a:r>
              <a:t>Security отримує $10m, але не одним чеком: $4m після підписання угоди з європейським партнером, $6m після запуску пілотної лінії. Немає результату — немає другого траншу.</a:t>
            </a:r>
          </a:p>
          <a:p>
            <a:r>
              <a:t>E-commerce отримує $3m як позику, яку повертають фонду першою, і лише якщо кредитори погодяться почекати, а засновник теж вкладе гроші. За цей час компанія проходить антикризовий план, а ми продаємо її до 15-го місяця.</a:t>
            </a:r>
          </a:p>
          <a:p>
            <a:r>
              <a:t>IT грошей не отримує: боргу немає, прибуток $21.6m. Компанія сама скорочує 300 людей, які зараз без проєктів, і піднімає прибуток приблизно до $28m. $2m резерву використовуються лише за рішенням інвесткомітету.</a:t>
            </a:r>
          </a:p>
          <a:p>
            <a:r>
              <a:t>І так само важливо, чого ми не робимо: не відбудовуємо склади E-commerce, не купуємо AI-компанії для IT і не будуємо завод з нуля. Ваня розповість, як ці $10m перетворюються на +$81m.</a:t>
            </a:r>
          </a:p>
          <a:p>
            <a:r>
              <a:t>Для себе: «Бридж» — коротка позика, щоб компанія дожила до продажу. «Транш» — частина інвестиції, яку дають лише після виконання умови («віхи»). «Мораторій кредиторів» — кредитори погоджуються тимчасово не вимагати борг.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ВАНЯ · Security Hardware: важелі</a:t>
            </a:r>
          </a:p>
          <a:p>
            <a:r>
              <a:t>Головне питання: чому покупець заплатить за Security 9x, а не 6x. Сьогодні він бачить «завод в Україні» і закладає знижку за ризик. Ми змінюємо історію на «перевірена в бою технологія з виробництвом у НАТО». Для цього чотири важелі.</a:t>
            </a:r>
          </a:p>
          <a:p>
            <a:r>
              <a:t>Перший і головний — хаб виробництва в ЄС. Не будуємо власний завод, а йдемо у спільне підприємство чи до контрактного виробника. Мета: щонайменше половина потужностей поза Україною до 18-го місяця.</a:t>
            </a:r>
          </a:p>
          <a:p>
            <a:r>
              <a:t>Другий — довгострокові контракти з урядами ЄС і НАТО, щоб покупець бачив гарантовану виручку наперед.</a:t>
            </a:r>
          </a:p>
          <a:p>
            <a:r>
              <a:t>Третій — захист бази в Україні: щонайменше три майданчики і запас компонентів на 90 днів.</a:t>
            </a:r>
          </a:p>
          <a:p>
            <a:r>
              <a:t>Четвертий — підготовка до продажу: аудит за міжнародними стандартами і фінансовий директор з досвідом угод. Кожен важіль має вимірювану ціль, вона внизу великими цифрами.</a:t>
            </a:r>
          </a:p>
          <a:p>
            <a:r>
              <a:t>Для себе: Медіана угод в оборонці близько 11x (Cavendish, 2026), тож 9x — консервативна ціль. «Контрактний виробник» — чужий завод, який виробляє за нашими кресленнями. Швидше й дешевше за власний.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ВАНЯ · Ризики та умови перемикання</a:t>
            </a:r>
          </a:p>
          <a:p>
            <a:r>
              <a:t>Звісно, щось може піти не так. Ліворуч п’ять ризиків за ймовірністю і впливом. Найнебезпечніший, номер 1, — затримка дозволів і сертифікації в ЄС. Тому другий транш $6m виходить лише після першої серії в ЄС, а якщо до 12-го місяця її немає, переходимо на ліцензування технології.</a:t>
            </a:r>
          </a:p>
          <a:p>
            <a:r>
              <a:t>Праворуч тригери: заздалегідь домовлені правила, коли ми зупиняємося, прискорюємося чи міняємо пріоритет. Наприклад, на 60-й день кредитори E-commerce не погодили паузу — бриджу немає. Хтось пропонує за Security від 9x — прискорюємо продаж.</a:t>
            </a:r>
          </a:p>
          <a:p>
            <a:r>
              <a:t>Ці пороги щокварталу переглядає рада, а відстежує наш Telegram-бот Board Alerts. Бодя покаже, як усе це складається у 24 місяці.</a:t>
            </a:r>
          </a:p>
          <a:p>
            <a:r>
              <a:t>Для себе: «Ліцензування» — продаємо право виробляти нашу технологію іншим замість будувати виробництво самим. «Pre-pack продаж» — продаж компанії, заздалегідь погоджений з кредиторами, коли вона не може платити борги.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БОДЯ (КАПІТАН) · Роудмап і вихід + демо</a:t>
            </a:r>
          </a:p>
          <a:p>
            <a:r>
              <a:t>Увесь план — це 24 місяці і три продажі по черзі. Сині смуги — створюємо вартість, чорні — продаємо. E-commerce продаємо до 15-го місяця, IT до 16-го. Security — останньою, на 23–24-му місяці, коли хаб у ЄС уже випускає серію: саме тоді вона коштує 9x. Помаранчева лінія — 15-й місяць, старт продажу Security.</a:t>
            </a:r>
          </a:p>
          <a:p>
            <a:r>
              <a:t>Найімовірніший покупець Security — європейська оборонна компанія, якій потрібні технологія і виробництво в НАТО.</a:t>
            </a:r>
          </a:p>
          <a:p>
            <a:r>
              <a:t>Ми IT-команда, тому кожну цифру з презентації можна перевірити самому. Це Exit Simulator. [Відкрити сайт]</a:t>
            </a:r>
          </a:p>
          <a:p>
            <a:r>
              <a:t>Вкладка «Рішення»: лінза і тест стійкості, можна змінити будь-яку оцінку. Вкладка «$15m»: програма перебрала всі варіанти розподілу, і найкращий збігся з нашим рішенням. Вкладка «Ризики»: 10 000 сценаріїв Монте-Карло. У кожному з них план дав фонду більше, ніж «без дій», а навіть у гірших 10% сценаріїв це близько $179m проти приблизно $122m без дій.</a:t>
            </a:r>
          </a:p>
          <a:p>
            <a:r>
              <a:t>Будь-яке ваше припущення зберігається в посиланні. Дякуємо! Будемо раді питанням.</a:t>
            </a:r>
          </a:p>
          <a:p>
            <a:r>
              <a:t>Для себе: Демо до 60 секунд. Вкладки відкрити заздалегідь; якщо інтернет впаде — показати скриншоти. Монте-Карло — запускаємо модель 10 000 разів з випадковими відхиленнями й ризик-подіями і дивимось на розкид результатів.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ase-challenge-3-0.vercel.app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ase-challenge-3-0.vercel.app" TargetMode="Externa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gradFill rotWithShape="1">
            <a:gsLst>
              <a:gs pos="0">
                <a:srgbClr val="5B47FF"/>
              </a:gs>
              <a:gs pos="100000">
                <a:srgbClr val="0B84C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 spc="120">
                <a:solidFill>
                  <a:srgbClr val="4632F0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lang="uk-UA">
                <a:solidFill>
                  <a:srgbClr val="10111C"/>
                </a:solidFill>
                <a:latin typeface="Arial"/>
              </a:rPr>
              <a:t>Фокус на Security Hardware подвоює вартість портфеля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uk-UA">
                <a:solidFill>
                  <a:srgbClr val="565A75"/>
                </a:solidFill>
                <a:latin typeface="Arial"/>
              </a:rPr>
              <a:t>$10m і 70% часу команди йдуть у Security: хаб виробництва в ЄС переоцінює компанію з 6x до 9x EBITDA.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648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Case Challenge 3.0 · CC-146</a:t>
            </a:r>
            <a:r>
              <a:rPr sz="900" b="0" lang="uk-UA">
                <a:solidFill>
                  <a:srgbClr val="565A75"/>
                </a:solidFill>
                <a:latin typeface="Arial"/>
              </a:rPr>
              <a:t>  ·  Exit Simulator: стратегія портфеля на 24 місяці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4648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1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565A75"/>
                </a:solidFill>
                <a:latin typeface="Arial"/>
              </a:rPr>
              <a:t>Розподіл $15m вільного капіталу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84831"/>
            <a:ext cx="3621024" cy="457200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1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lang="uk-UA">
                <a:solidFill>
                  <a:srgbClr val="FFFFFF"/>
                </a:solidFill>
                <a:latin typeface="Arial"/>
              </a:rPr>
              <a:t>$10m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084831"/>
            <a:ext cx="1060704" cy="457200"/>
          </a:xfrm>
          <a:prstGeom prst="rect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84831"/>
            <a:ext cx="10607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lang="uk-UA">
                <a:solidFill>
                  <a:srgbClr val="FFFFFF"/>
                </a:solidFill>
                <a:latin typeface="Arial"/>
              </a:rPr>
              <a:t>$3m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084831"/>
            <a:ext cx="694944" cy="457200"/>
          </a:xfrm>
          <a:prstGeom prst="rect">
            <a:avLst/>
          </a:prstGeom>
          <a:solidFill>
            <a:srgbClr val="E6E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084831"/>
            <a:ext cx="6949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lang="uk-UA">
                <a:solidFill>
                  <a:srgbClr val="10111C"/>
                </a:solidFill>
                <a:latin typeface="Arial"/>
              </a:rPr>
              <a:t>$2m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lang="uk-UA">
                <a:solidFill>
                  <a:srgbClr val="4632F0"/>
                </a:solidFill>
                <a:latin typeface="Arial"/>
              </a:rPr>
              <a:t>$10m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43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uk-UA">
                <a:solidFill>
                  <a:srgbClr val="10111C"/>
                </a:solidFill>
                <a:latin typeface="Arial"/>
              </a:rPr>
              <a:t>Security Hardware: інтенсивна програма, 70% часу команди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227832"/>
            <a:ext cx="5486400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3255264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lang="uk-UA">
                <a:solidFill>
                  <a:srgbClr val="10111C"/>
                </a:solidFill>
                <a:latin typeface="Arial"/>
              </a:rPr>
              <a:t>$3m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5526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uk-UA">
                <a:solidFill>
                  <a:srgbClr val="10111C"/>
                </a:solidFill>
                <a:latin typeface="Arial"/>
              </a:rPr>
              <a:t>E-commerce: забезпечений бридж під умови, продаж до міс. 15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739896"/>
            <a:ext cx="5486400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48640" y="376732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lang="uk-UA">
                <a:solidFill>
                  <a:srgbClr val="6B6E87"/>
                </a:solidFill>
                <a:latin typeface="Arial"/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6732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uk-UA">
                <a:solidFill>
                  <a:srgbClr val="10111C"/>
                </a:solidFill>
                <a:latin typeface="Arial"/>
              </a:rPr>
              <a:t>IT-інжиніринг: оптимізація за власні кошти, продаж до міс. 16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251960"/>
            <a:ext cx="5486400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48640" y="427939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lang="uk-UA">
                <a:solidFill>
                  <a:srgbClr val="6B6E87"/>
                </a:solidFill>
                <a:latin typeface="Arial"/>
              </a:rPr>
              <a:t>$2m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793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uk-UA">
                <a:solidFill>
                  <a:srgbClr val="10111C"/>
                </a:solidFill>
                <a:latin typeface="Arial"/>
              </a:rPr>
              <a:t>Резерв: перевитрати Security або продаж E-com, рішення 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783080"/>
            <a:ext cx="5239512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1901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565A75"/>
                </a:solidFill>
                <a:latin typeface="Arial"/>
              </a:rPr>
              <a:t>Частка фонду в Security на міс. 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3300984"/>
            <a:ext cx="731520" cy="923544"/>
          </a:xfrm>
          <a:prstGeom prst="rect">
            <a:avLst/>
          </a:prstGeom>
          <a:solidFill>
            <a:srgbClr val="E6E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300837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uk-UA">
                <a:solidFill>
                  <a:srgbClr val="10111C"/>
                </a:solidFill>
                <a:latin typeface="Arial"/>
              </a:rPr>
              <a:t>$101m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4297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lang="uk-UA">
                <a:solidFill>
                  <a:srgbClr val="565A75"/>
                </a:solidFill>
                <a:latin typeface="Arial"/>
              </a:rPr>
              <a:t>Без плану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9248" y="3209544"/>
            <a:ext cx="731520" cy="91440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2088" y="291693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uk-UA">
                <a:solidFill>
                  <a:srgbClr val="4632F0"/>
                </a:solidFill>
                <a:latin typeface="Arial"/>
              </a:rPr>
              <a:t>+$10m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2088" y="4297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lang="uk-UA">
                <a:solidFill>
                  <a:srgbClr val="565A75"/>
                </a:solidFill>
                <a:latin typeface="Arial"/>
              </a:rPr>
              <a:t>Швидший ріст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52360" y="3300984"/>
            <a:ext cx="246888" cy="0"/>
          </a:xfrm>
          <a:prstGeom prst="line">
            <a:avLst/>
          </a:prstGeom>
          <a:ln w="9525">
            <a:solidFill>
              <a:srgbClr val="9496AD"/>
            </a:solidFill>
            <a:prstDash val="sysDot"/>
          </a:ln>
        </p:spPr>
      </p:cxnSp>
      <p:sp>
        <p:nvSpPr>
          <p:cNvPr id="36" name="Rectangle 35"/>
          <p:cNvSpPr/>
          <p:nvPr/>
        </p:nvSpPr>
        <p:spPr>
          <a:xfrm>
            <a:off x="8677656" y="2642615"/>
            <a:ext cx="731520" cy="566928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23500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uk-UA">
                <a:solidFill>
                  <a:srgbClr val="4632F0"/>
                </a:solidFill>
                <a:latin typeface="Arial"/>
              </a:rPr>
              <a:t>+$62m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4297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lang="uk-UA">
                <a:solidFill>
                  <a:srgbClr val="565A75"/>
                </a:solidFill>
                <a:latin typeface="Arial"/>
              </a:rPr>
              <a:t>Переоцінка
6x → 9x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30768" y="3209544"/>
            <a:ext cx="246888" cy="0"/>
          </a:xfrm>
          <a:prstGeom prst="line">
            <a:avLst/>
          </a:prstGeom>
          <a:ln w="9525">
            <a:solidFill>
              <a:srgbClr val="9496AD"/>
            </a:solidFill>
            <a:prstDash val="sysDot"/>
          </a:ln>
        </p:spPr>
      </p:cxnSp>
      <p:sp>
        <p:nvSpPr>
          <p:cNvPr id="40" name="Rectangle 39"/>
          <p:cNvSpPr/>
          <p:nvPr/>
        </p:nvSpPr>
        <p:spPr>
          <a:xfrm>
            <a:off x="9656063" y="2560320"/>
            <a:ext cx="731520" cy="82296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18903" y="2267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uk-UA">
                <a:solidFill>
                  <a:srgbClr val="4632F0"/>
                </a:solidFill>
                <a:latin typeface="Arial"/>
              </a:rPr>
              <a:t>+$9m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8903" y="4297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lang="uk-UA">
                <a:solidFill>
                  <a:srgbClr val="565A75"/>
                </a:solidFill>
                <a:latin typeface="Arial"/>
              </a:rPr>
              <a:t>Внесок $10m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09176" y="2642615"/>
            <a:ext cx="246887" cy="0"/>
          </a:xfrm>
          <a:prstGeom prst="line">
            <a:avLst/>
          </a:prstGeom>
          <a:ln w="9525">
            <a:solidFill>
              <a:srgbClr val="9496AD"/>
            </a:solidFill>
            <a:prstDash val="sysDot"/>
          </a:ln>
        </p:spPr>
      </p:cxnSp>
      <p:sp>
        <p:nvSpPr>
          <p:cNvPr id="44" name="Rectangle 43"/>
          <p:cNvSpPr/>
          <p:nvPr/>
        </p:nvSpPr>
        <p:spPr>
          <a:xfrm>
            <a:off x="10634472" y="2560320"/>
            <a:ext cx="731520" cy="1664208"/>
          </a:xfrm>
          <a:prstGeom prst="rect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97311" y="2267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uk-UA">
                <a:solidFill>
                  <a:srgbClr val="10111C"/>
                </a:solidFill>
                <a:latin typeface="Arial"/>
              </a:rPr>
              <a:t>$182m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97311" y="4297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lang="uk-UA">
                <a:solidFill>
                  <a:srgbClr val="10111C"/>
                </a:solidFill>
                <a:latin typeface="Arial"/>
              </a:rPr>
              <a:t>За планом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387584" y="2560320"/>
            <a:ext cx="246888" cy="0"/>
          </a:xfrm>
          <a:prstGeom prst="line">
            <a:avLst/>
          </a:prstGeom>
          <a:ln w="9525">
            <a:solidFill>
              <a:srgbClr val="9496AD"/>
            </a:solidFill>
            <a:prstDash val="sysDot"/>
          </a:ln>
        </p:spPr>
      </p:cxnSp>
      <p:cxnSp>
        <p:nvCxnSpPr>
          <p:cNvPr id="48" name="Connector 47"/>
          <p:cNvCxnSpPr/>
          <p:nvPr/>
        </p:nvCxnSpPr>
        <p:spPr>
          <a:xfrm>
            <a:off x="6629400" y="4224528"/>
            <a:ext cx="4800600" cy="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sp>
        <p:nvSpPr>
          <p:cNvPr id="49" name="Rounded Rectangle 48"/>
          <p:cNvSpPr/>
          <p:nvPr/>
        </p:nvSpPr>
        <p:spPr>
          <a:xfrm>
            <a:off x="548640" y="5074920"/>
            <a:ext cx="7635240" cy="1188720"/>
          </a:xfrm>
          <a:prstGeom prst="roundRect">
            <a:avLst>
              <a:gd name="adj" fmla="val 6000"/>
            </a:avLst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19379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lang="uk-UA">
                <a:solidFill>
                  <a:srgbClr val="A99BFF"/>
                </a:solidFill>
                <a:latin typeface="Arial"/>
              </a:rPr>
              <a:t>$254.5m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73328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lang="uk-UA">
                <a:solidFill>
                  <a:srgbClr val="C9CBE0"/>
                </a:solidFill>
                <a:latin typeface="Arial"/>
              </a:rPr>
              <a:t>портфель фонду на виході за планом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7560" y="519379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lang="uk-UA">
                <a:solidFill>
                  <a:srgbClr val="9496AD"/>
                </a:solidFill>
                <a:latin typeface="Arial"/>
              </a:rPr>
              <a:t>$125.7m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573328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lang="uk-UA">
                <a:solidFill>
                  <a:srgbClr val="C9CBE0"/>
                </a:solidFill>
                <a:latin typeface="Arial"/>
              </a:rPr>
              <a:t>без дій, тобто вдвічі менше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0" y="519379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lang="uk-UA">
                <a:solidFill>
                  <a:srgbClr val="FFFFFF"/>
                </a:solidFill>
                <a:latin typeface="Arial"/>
              </a:rPr>
              <a:t>99.2%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0" y="573328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lang="uk-UA">
                <a:solidFill>
                  <a:srgbClr val="C9CBE0"/>
                </a:solidFill>
                <a:latin typeface="Arial"/>
              </a:rPr>
              <a:t>тестів лінзи, де Security лишається №1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66760" y="5074920"/>
            <a:ext cx="327355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5166360"/>
            <a:ext cx="1005840" cy="10058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601200" y="5193792"/>
            <a:ext cx="19476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lang="uk-UA">
                <a:solidFill>
                  <a:srgbClr val="10111C"/>
                </a:solidFill>
                <a:latin typeface="Arial"/>
              </a:rPr>
              <a:t>QR: інтерактивна модель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0" lang="uk-UA">
                <a:solidFill>
                  <a:srgbClr val="4632F0"/>
                </a:solidFill>
                <a:latin typeface="Arial"/>
                <a:hlinkClick r:id="rId3"/>
              </a:rPr>
              <a:t>case-challenge-3-0.vercel.app</a:t>
            </a:r>
          </a:p>
          <a:p>
            <a:pPr algn="l">
              <a:lnSpc>
                <a:spcPct val="112000"/>
              </a:lnSpc>
            </a:pPr>
            <a:r>
              <a:rPr sz="850" b="0" lang="uk-UA">
                <a:solidFill>
                  <a:srgbClr val="565A75"/>
                </a:solidFill>
                <a:latin typeface="Arial"/>
              </a:rPr>
              <a:t>Змініть будь-яке припущення й перевірте рішення на 10 000 сценаріях Монте-Карло.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gradFill rotWithShape="1">
            <a:gsLst>
              <a:gs pos="0">
                <a:srgbClr val="5B47FF"/>
              </a:gs>
              <a:gs pos="100000">
                <a:srgbClr val="0B84C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 spc="120">
                <a:solidFill>
                  <a:srgbClr val="4632F0"/>
                </a:solidFill>
                <a:latin typeface="Arial"/>
              </a:rPr>
              <a:t>ЕТАП 1 · ПРІОРИТЕТ ПОРТФЕЛЯ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lang="uk-UA">
                <a:solidFill>
                  <a:srgbClr val="10111C"/>
                </a:solidFill>
                <a:latin typeface="Arial"/>
              </a:rPr>
              <a:t>Лінза кейсу ставить Security першою: 400 балів проти 81 і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uk-UA">
                <a:solidFill>
                  <a:srgbClr val="565A75"/>
                </a:solidFill>
                <a:latin typeface="Arial"/>
              </a:rPr>
              <a:t>Security отримує фокус: найбільша частка фонду і проблема, яку фонд реально вирішує за 24 місяці.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648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Case Challenge 3.0 · CC-146</a:t>
            </a:r>
            <a:r>
              <a:rPr sz="900" b="0" lang="uk-UA">
                <a:solidFill>
                  <a:srgbClr val="565A75"/>
                </a:solidFill>
                <a:latin typeface="Arial"/>
              </a:rPr>
              <a:t>  ·  Exit Simulator: стратегія портфеля на 24 місяці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4648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2 /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6766560" cy="1261872"/>
          </a:xfrm>
          <a:prstGeom prst="roundRect">
            <a:avLst>
              <a:gd name="adj" fmla="val 5000"/>
            </a:avLst>
          </a:prstGeom>
          <a:solidFill>
            <a:srgbClr val="EEEBFF"/>
          </a:solidFill>
          <a:ln w="15875">
            <a:solidFill>
              <a:srgbClr val="5B4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99339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lang="uk-UA">
                <a:solidFill>
                  <a:srgbClr val="FFFFFF"/>
                </a:solidFill>
                <a:latin typeface="Arial"/>
              </a:rPr>
              <a:t>№1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9476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lang="uk-UA">
                <a:solidFill>
                  <a:srgbClr val="10111C"/>
                </a:solidFill>
                <a:latin typeface="Arial"/>
              </a:rPr>
              <a:t>Security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5915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lang="uk-UA">
                <a:solidFill>
                  <a:srgbClr val="4632F0"/>
                </a:solidFill>
                <a:latin typeface="Arial"/>
              </a:rPr>
              <a:t>Фокус: інтенсивна програма, $10m і 70% часу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lang="uk-UA">
                <a:solidFill>
                  <a:srgbClr val="565A75"/>
                </a:solidFill>
                <a:latin typeface="Arial"/>
              </a:rPr>
              <a:t>Частка ~$76m, +$81m з планом · хаб 12–18 міс., старт зараз · капітал, рада, партнери · +30% виручки, маржа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9202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3200" b="1" lang="uk-UA">
                <a:solidFill>
                  <a:srgbClr val="4632F0"/>
                </a:solidFill>
                <a:latin typeface="Arial"/>
              </a:rPr>
              <a:t>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5237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5×4×5×4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82112"/>
            <a:ext cx="6766560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36499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E6E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№2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3192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lang="uk-UA">
                <a:solidFill>
                  <a:srgbClr val="10111C"/>
                </a:solidFill>
                <a:latin typeface="Arial"/>
              </a:rPr>
              <a:t>IT-інжиніринг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uk-UA">
                <a:solidFill>
                  <a:srgbClr val="10111C"/>
                </a:solidFill>
                <a:latin typeface="Arial"/>
              </a:rPr>
              <a:t>Підтримка: оптимізація і ранній продаж, $0, 15% часу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05072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lang="uk-UA">
                <a:solidFill>
                  <a:srgbClr val="565A75"/>
                </a:solidFill>
                <a:latin typeface="Arial"/>
              </a:rPr>
              <a:t>Частка ~$39m, −$16m при дрейфі · AI тисне на ціни щокварталу · витрати так, попит ні · без боргу, маржа 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2918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3200" b="1" lang="uk-UA">
                <a:solidFill>
                  <a:srgbClr val="10111C"/>
                </a:solidFill>
                <a:latin typeface="Arial"/>
              </a:rPr>
              <a:t>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953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3×3×3×3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53712"/>
            <a:ext cx="6766560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73659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E6E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36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№3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6908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lang="uk-UA">
                <a:solidFill>
                  <a:srgbClr val="10111C"/>
                </a:solidFill>
                <a:latin typeface="Arial"/>
              </a:rPr>
              <a:t>E-commerce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0235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uk-UA">
                <a:solidFill>
                  <a:srgbClr val="10111C"/>
                </a:solidFill>
                <a:latin typeface="Arial"/>
              </a:rPr>
              <a:t>Тріаж, а не порятунок: $3m бридж під умови, 15% часу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76672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lang="uk-UA">
                <a:solidFill>
                  <a:srgbClr val="565A75"/>
                </a:solidFill>
                <a:latin typeface="Arial"/>
              </a:rPr>
              <a:t>Частка ~$7.5m, борг $35m попереду · ліквідність потрібна ≤6 міс. · зовнішні шоки, кредитори · маржа 2%, доставка 5 днів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6634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3200" b="1" lang="uk-UA">
                <a:solidFill>
                  <a:srgbClr val="6B6E87"/>
                </a:solidFill>
                <a:latin typeface="Arial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2669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2×5×2×1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1810512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565A75"/>
                </a:solidFill>
                <a:latin typeface="Arial"/>
              </a:rPr>
              <a:t>Оцінки 1–5, лінза = добуток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589520" y="2084831"/>
          <a:ext cx="4050791" cy="19751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56231"/>
                <a:gridCol w="73152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lang="uk-UA">
                          <a:solidFill>
                            <a:srgbClr val="565A75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uk-UA">
                          <a:solidFill>
                            <a:srgbClr val="4632F0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uk-UA">
                          <a:solidFill>
                            <a:srgbClr val="565A75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uk-UA">
                          <a:solidFill>
                            <a:srgbClr val="565A75"/>
                          </a:solidFill>
                          <a:latin typeface="Arial"/>
                        </a:rPr>
                        <a:t>E-com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Цінність під ризиком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uk-UA">
                          <a:solidFill>
                            <a:srgbClr val="4632F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EEEB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Терміновість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uk-UA">
                          <a:solidFill>
                            <a:srgbClr val="4632F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18288" marB="18288" anchor="ctr">
                    <a:solidFill>
                      <a:srgbClr val="EEEB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Вплив фонду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uk-UA">
                          <a:solidFill>
                            <a:srgbClr val="4632F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EEEB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Готовність до виходу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uk-UA">
                          <a:solidFill>
                            <a:srgbClr val="4632F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18288" marB="18288" anchor="ctr">
                    <a:solidFill>
                      <a:srgbClr val="EEEB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uk-UA">
                          <a:solidFill>
                            <a:srgbClr val="1011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lang="uk-UA">
                          <a:solidFill>
                            <a:srgbClr val="FFFFFF"/>
                          </a:solidFill>
                          <a:latin typeface="Arial"/>
                        </a:rPr>
                        <a:t>Лінза</a:t>
                      </a:r>
                    </a:p>
                  </a:txBody>
                  <a:tcPr marL="91440" marR="91440" marT="18288" marB="18288" anchor="ctr">
                    <a:solidFill>
                      <a:srgbClr val="10111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uk-UA">
                          <a:solidFill>
                            <a:srgbClr val="A99BFF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91440" marR="91440" marT="18288" marB="18288" anchor="ctr">
                    <a:solidFill>
                      <a:srgbClr val="10111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uk-UA">
                          <a:solidFill>
                            <a:srgbClr val="FFFFFF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91440" marR="91440" marT="18288" marB="18288" anchor="ctr">
                    <a:solidFill>
                      <a:srgbClr val="10111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uk-UA">
                          <a:solidFill>
                            <a:srgbClr val="FFFFFF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91440" marR="91440" marT="18288" marB="18288" anchor="ctr">
                    <a:solidFill>
                      <a:srgbClr val="10111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FE1EC"/>
                      </a:solidFill>
                    </a:lnT>
                    <a:lnB w="9525" cap="flat" cmpd="sng" algn="ctr">
                      <a:solidFill>
                        <a:srgbClr val="DFE1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7589520" y="4279392"/>
            <a:ext cx="4050791" cy="1536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20" y="4279392"/>
            <a:ext cx="64008" cy="1536192"/>
          </a:xfrm>
          <a:prstGeom prst="rect">
            <a:avLst/>
          </a:prstGeom>
          <a:solidFill>
            <a:srgbClr val="FF5B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4407408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lang="uk-UA">
                <a:solidFill>
                  <a:srgbClr val="10111C"/>
                </a:solidFill>
                <a:latin typeface="Arial"/>
              </a:rPr>
              <a:t>Чому не найбільша криза?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lang="uk-UA">
                <a:solidFill>
                  <a:srgbClr val="10111C"/>
                </a:solidFill>
                <a:latin typeface="Arial"/>
              </a:rPr>
              <a:t>E-commerce горить найсильніше, але при чистому боргу $35m частка фонду коштує ~$7.5m. $10m «порятунку» захищали б передусім кредиторів.</a:t>
            </a:r>
          </a:p>
          <a:p>
            <a:pPr algn="l">
              <a:lnSpc>
                <a:spcPct val="112000"/>
              </a:lnSpc>
            </a:pPr>
            <a:r>
              <a:rPr sz="1050" b="1" lang="uk-UA">
                <a:solidFill>
                  <a:srgbClr val="10111C"/>
                </a:solidFill>
                <a:latin typeface="Arial"/>
              </a:rPr>
              <a:t>Тому E-commerce отримує тріаж і бридж під жорсткі умови, а не порятунок.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Частка фонду = (EBITDA × 6x, E-com 5x − чистий борг) × % володіння. Стійкість: Security №1 у 99.2% з 10 000 тестів, де кожну оцінку зсунуто на ±1.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gradFill rotWithShape="1">
            <a:gsLst>
              <a:gs pos="0">
                <a:srgbClr val="5B47FF"/>
              </a:gs>
              <a:gs pos="100000">
                <a:srgbClr val="0B84C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 spc="120">
                <a:solidFill>
                  <a:srgbClr val="4632F0"/>
                </a:solidFill>
                <a:latin typeface="Arial"/>
              </a:rPr>
              <a:t>ЕТАП 1 · РОЗПОДІЛ КАПІТАЛУ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lang="uk-UA">
                <a:solidFill>
                  <a:srgbClr val="10111C"/>
                </a:solidFill>
                <a:latin typeface="Arial"/>
              </a:rPr>
              <a:t>$15m проти запитів на $33m: гроші туди, де вони множаться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uk-UA">
                <a:solidFill>
                  <a:srgbClr val="565A75"/>
                </a:solidFill>
                <a:latin typeface="Arial"/>
              </a:rPr>
              <a:t>Security отримує $10m двома траншами під віхи, E-commerce лише бридж $3m, IT нуль.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648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Case Challenge 3.0 · CC-146</a:t>
            </a:r>
            <a:r>
              <a:rPr sz="900" b="0" lang="uk-UA">
                <a:solidFill>
                  <a:srgbClr val="565A75"/>
                </a:solidFill>
                <a:latin typeface="Arial"/>
              </a:rPr>
              <a:t>  ·  Exit Simulator: стратегія портфеля на 24 місяці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4648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lang="uk-UA">
                <a:solidFill>
                  <a:srgbClr val="565A75"/>
                </a:solidFill>
                <a:latin typeface="Arial"/>
              </a:rPr>
              <a:t>Запити, $33m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18709"/>
            <a:ext cx="1371600" cy="1496290"/>
          </a:xfrm>
          <a:prstGeom prst="rect">
            <a:avLst/>
          </a:prstGeom>
          <a:solidFill>
            <a:srgbClr val="E6E7EF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18709"/>
            <a:ext cx="1371600" cy="1496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lang="uk-UA">
                <a:solidFill>
                  <a:srgbClr val="10111C"/>
                </a:solidFill>
                <a:latin typeface="Arial"/>
              </a:rPr>
              <a:t>Security $15m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21181"/>
            <a:ext cx="1371600" cy="997527"/>
          </a:xfrm>
          <a:prstGeom prst="rect">
            <a:avLst/>
          </a:prstGeom>
          <a:solidFill>
            <a:srgbClr val="E6E7EF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21181"/>
            <a:ext cx="1371600" cy="9975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lang="uk-UA">
                <a:solidFill>
                  <a:srgbClr val="10111C"/>
                </a:solidFill>
                <a:latin typeface="Arial"/>
              </a:rPr>
              <a:t>E-com $10m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423159"/>
            <a:ext cx="1371600" cy="798021"/>
          </a:xfrm>
          <a:prstGeom prst="rect">
            <a:avLst/>
          </a:prstGeom>
          <a:solidFill>
            <a:srgbClr val="E6E7EF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23159"/>
            <a:ext cx="1371600" cy="7980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lang="uk-UA">
                <a:solidFill>
                  <a:srgbClr val="10111C"/>
                </a:solidFill>
                <a:latin typeface="Arial"/>
              </a:rPr>
              <a:t>IT 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651781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lang="uk-UA">
                <a:solidFill>
                  <a:srgbClr val="565A75"/>
                </a:solidFill>
                <a:latin typeface="Arial"/>
              </a:rPr>
              <a:t>Даємо, $15m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4717472"/>
            <a:ext cx="1371600" cy="997527"/>
          </a:xfrm>
          <a:prstGeom prst="rect">
            <a:avLst/>
          </a:prstGeom>
          <a:solidFill>
            <a:srgbClr val="5B47FF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509736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lang="uk-UA">
                <a:solidFill>
                  <a:srgbClr val="4632F0"/>
                </a:solidFill>
                <a:latin typeface="Arial"/>
              </a:rPr>
              <a:t>$10m Security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4418214"/>
            <a:ext cx="1371600" cy="299258"/>
          </a:xfrm>
          <a:prstGeom prst="rect">
            <a:avLst/>
          </a:prstGeom>
          <a:solidFill>
            <a:srgbClr val="10111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448971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lang="uk-UA">
                <a:solidFill>
                  <a:srgbClr val="10111C"/>
                </a:solidFill>
                <a:latin typeface="Arial"/>
              </a:rPr>
              <a:t>$3m E-com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218709"/>
            <a:ext cx="1371600" cy="199505"/>
          </a:xfrm>
          <a:prstGeom prst="rect">
            <a:avLst/>
          </a:prstGeom>
          <a:solidFill>
            <a:srgbClr val="9496A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4199589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lang="uk-UA">
                <a:solidFill>
                  <a:srgbClr val="6B6E87"/>
                </a:solidFill>
                <a:latin typeface="Arial"/>
              </a:rPr>
              <a:t>$2m резерв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26101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lang="uk-UA">
                <a:solidFill>
                  <a:srgbClr val="6B6E87"/>
                </a:solidFill>
                <a:latin typeface="Arial"/>
              </a:rPr>
              <a:t>IT: $0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715000"/>
            <a:ext cx="4343400" cy="0"/>
          </a:xfrm>
          <a:prstGeom prst="line">
            <a:avLst/>
          </a:prstGeom>
          <a:ln w="12700">
            <a:solidFill>
              <a:srgbClr val="9496AD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5486400" y="1810512"/>
            <a:ext cx="64008" cy="713232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1792224"/>
            <a:ext cx="58978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lang="uk-UA">
                <a:solidFill>
                  <a:srgbClr val="4632F0"/>
                </a:solidFill>
                <a:latin typeface="Arial"/>
              </a:rPr>
              <a:t>Security Hardware · $10m · 70% часу команди</a:t>
            </a:r>
          </a:p>
          <a:p>
            <a:pPr algn="l">
              <a:lnSpc>
                <a:spcPct val="112000"/>
              </a:lnSpc>
            </a:pPr>
            <a:r>
              <a:rPr sz="1050" b="0" lang="uk-UA">
                <a:solidFill>
                  <a:srgbClr val="10111C"/>
                </a:solidFill>
                <a:latin typeface="Arial"/>
              </a:rPr>
              <a:t>Два транші під віхи: $4m при підписанні СП (міс. 2–3), $6m при запуску пілотної лінії (міс. 8–9). Ще ~$5m дають FCF компанії та партнер СП.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651760"/>
            <a:ext cx="64008" cy="969264"/>
          </a:xfrm>
          <a:prstGeom prst="rect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2633472"/>
            <a:ext cx="589788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lang="uk-UA">
                <a:solidFill>
                  <a:srgbClr val="10111C"/>
                </a:solidFill>
                <a:latin typeface="Arial"/>
              </a:rPr>
              <a:t>E-commerce · $3m · 15% часу</a:t>
            </a:r>
          </a:p>
          <a:p>
            <a:pPr algn="l">
              <a:lnSpc>
                <a:spcPct val="112000"/>
              </a:lnSpc>
            </a:pPr>
            <a:r>
              <a:rPr sz="1050" b="0" lang="uk-UA">
                <a:solidFill>
                  <a:srgbClr val="10111C"/>
                </a:solidFill>
                <a:latin typeface="Arial"/>
              </a:rPr>
              <a:t>Забезпечений бридж із першочерговим погашенням, лише після мораторію кредиторів і внеску засновника. Тріаж: 13-тижневий cash-план, 3PL замість відбудови складів, вужчий асортимент (вивільняє $4–5m оборотного капіталу), M&amp;A-радник з міс. 2, продаж до міс. 15.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749039"/>
            <a:ext cx="64008" cy="832104"/>
          </a:xfrm>
          <a:prstGeom prst="rect">
            <a:avLst/>
          </a:prstGeom>
          <a:solidFill>
            <a:srgbClr val="949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3730752"/>
            <a:ext cx="5897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lang="uk-UA">
                <a:solidFill>
                  <a:srgbClr val="10111C"/>
                </a:solidFill>
                <a:latin typeface="Arial"/>
              </a:rPr>
              <a:t>IT-інжиніринг · $0 · 15% часу</a:t>
            </a:r>
          </a:p>
          <a:p>
            <a:pPr algn="l">
              <a:lnSpc>
                <a:spcPct val="112000"/>
              </a:lnSpc>
            </a:pPr>
            <a:r>
              <a:rPr sz="1050" b="0" lang="uk-UA">
                <a:solidFill>
                  <a:srgbClr val="10111C"/>
                </a:solidFill>
                <a:latin typeface="Arial"/>
              </a:rPr>
              <a:t>Без боргу, EBITDA $21.6m: вихідні допомоги (~$2m) з власного cash flow. −300 FTE з бенчу (утилізація 70% → ~78%), ціни й AI-assisted delivery дають EBITDA ~$28m (16%). Продаж консолідатору чи PE з міс. 9.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4709159"/>
            <a:ext cx="64008" cy="438912"/>
          </a:xfrm>
          <a:prstGeom prst="rect">
            <a:avLst/>
          </a:prstGeom>
          <a:solidFill>
            <a:srgbClr val="949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4690872"/>
            <a:ext cx="5897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lang="uk-UA">
                <a:solidFill>
                  <a:srgbClr val="6B6E87"/>
                </a:solidFill>
                <a:latin typeface="Arial"/>
              </a:rPr>
              <a:t>Резерв · $2m</a:t>
            </a:r>
          </a:p>
          <a:p>
            <a:pPr algn="l">
              <a:lnSpc>
                <a:spcPct val="112000"/>
              </a:lnSpc>
            </a:pPr>
            <a:r>
              <a:rPr sz="1050" b="0" lang="uk-UA">
                <a:solidFill>
                  <a:srgbClr val="10111C"/>
                </a:solidFill>
                <a:latin typeface="Arial"/>
              </a:rPr>
              <a:t>Перевитрати Security або витрати на продаж E-com; кожне використання вирішує інвесткомітет.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5294375"/>
            <a:ext cx="6153912" cy="384048"/>
          </a:xfrm>
          <a:prstGeom prst="roundRect">
            <a:avLst>
              <a:gd name="adj" fmla="val 15000"/>
            </a:avLst>
          </a:prstGeom>
          <a:solidFill>
            <a:srgbClr val="E6E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5294375"/>
            <a:ext cx="5897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lang="uk-UA">
                <a:solidFill>
                  <a:srgbClr val="10111C"/>
                </a:solidFill>
                <a:latin typeface="Arial"/>
              </a:rPr>
              <a:t>Не робимо:  </a:t>
            </a:r>
            <a:r>
              <a:rPr sz="1050" b="0" lang="uk-UA" strike="sngStrike">
                <a:solidFill>
                  <a:srgbClr val="565A75"/>
                </a:solidFill>
                <a:latin typeface="Arial"/>
              </a:rPr>
              <a:t>відбудову складів E-com</a:t>
            </a:r>
            <a:r>
              <a:rPr sz="1050" b="0" lang="uk-UA">
                <a:solidFill>
                  <a:srgbClr val="10111C"/>
                </a:solidFill>
                <a:latin typeface="Arial"/>
              </a:rPr>
              <a:t>   </a:t>
            </a:r>
            <a:r>
              <a:rPr sz="1050" b="0" lang="uk-UA" strike="sngStrike">
                <a:solidFill>
                  <a:srgbClr val="565A75"/>
                </a:solidFill>
                <a:latin typeface="Arial"/>
              </a:rPr>
              <a:t>AI-M&amp;A в IT</a:t>
            </a:r>
            <a:r>
              <a:rPr sz="1050" b="0" lang="uk-UA">
                <a:solidFill>
                  <a:srgbClr val="10111C"/>
                </a:solidFill>
                <a:latin typeface="Arial"/>
              </a:rPr>
              <a:t>   </a:t>
            </a:r>
            <a:r>
              <a:rPr sz="1050" b="0" lang="uk-UA" strike="sngStrike">
                <a:solidFill>
                  <a:srgbClr val="565A75"/>
                </a:solidFill>
                <a:latin typeface="Arial"/>
              </a:rPr>
              <a:t>«чек» Security без віх</a:t>
            </a:r>
            <a:r>
              <a:rPr sz="1050" b="0" lang="uk-UA">
                <a:solidFill>
                  <a:srgbClr val="10111C"/>
                </a:solidFill>
                <a:latin typeface="Arial"/>
              </a:rPr>
              <a:t>   </a:t>
            </a:r>
            <a:r>
              <a:rPr sz="1050" b="0" lang="uk-UA" strike="sngStrike">
                <a:solidFill>
                  <a:srgbClr val="565A75"/>
                </a:solidFill>
                <a:latin typeface="Arial"/>
              </a:rPr>
              <a:t>завод з нуля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Припущення: решту потреб E-com закриває вивільнення оборотного капіталу; IT: ~$42k повних витрат на спеціаліста.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gradFill rotWithShape="1">
            <a:gsLst>
              <a:gs pos="0">
                <a:srgbClr val="5B47FF"/>
              </a:gs>
              <a:gs pos="100000">
                <a:srgbClr val="0B84C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 spc="120">
                <a:solidFill>
                  <a:srgbClr val="4632F0"/>
                </a:solidFill>
                <a:latin typeface="Arial"/>
              </a:rPr>
              <a:t>ЕТАП 2 · SECURITY HARDWARE: ВАЖЕЛІ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lang="uk-UA">
                <a:solidFill>
                  <a:srgbClr val="10111C"/>
                </a:solidFill>
                <a:latin typeface="Arial"/>
              </a:rPr>
              <a:t>Чотири важелі переводять Security з 6x у 9x EBITDA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uk-UA">
                <a:solidFill>
                  <a:srgbClr val="565A75"/>
                </a:solidFill>
                <a:latin typeface="Arial"/>
              </a:rPr>
              <a:t>Історія для покупця: бойово перевірена технологія з виробництвом у НАТО, а не «завод в Україні».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648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Case Challenge 3.0 · CC-146</a:t>
            </a:r>
            <a:r>
              <a:rPr sz="900" b="0" lang="uk-UA">
                <a:solidFill>
                  <a:srgbClr val="565A75"/>
                </a:solidFill>
                <a:latin typeface="Arial"/>
              </a:rPr>
              <a:t>  ·  Exit Simulator: стратегія портфеля на 24 місяці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4648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565A75"/>
                </a:solidFill>
                <a:latin typeface="Arial"/>
              </a:rPr>
              <a:t>EV/EBITDA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00200" y="2286000"/>
            <a:ext cx="9875520" cy="0"/>
          </a:xfrm>
          <a:prstGeom prst="line">
            <a:avLst/>
          </a:prstGeom>
          <a:ln w="12700">
            <a:solidFill>
              <a:srgbClr val="9496AD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60020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42316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24612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406908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489204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571500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53796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736092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8183879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900684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982980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065276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1475720" y="2240280"/>
            <a:ext cx="0" cy="91440"/>
          </a:xfrm>
          <a:prstGeom prst="line">
            <a:avLst/>
          </a:prstGeom>
          <a:ln w="9525">
            <a:solidFill>
              <a:srgbClr val="9496AD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1417320" y="23774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23774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12x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37960" y="2084831"/>
            <a:ext cx="2468880" cy="0"/>
          </a:xfrm>
          <a:prstGeom prst="line">
            <a:avLst/>
          </a:prstGeom>
          <a:ln w="19050">
            <a:solidFill>
              <a:srgbClr val="5B47FF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6537960" y="2011680"/>
            <a:ext cx="0" cy="146304"/>
          </a:xfrm>
          <a:prstGeom prst="line">
            <a:avLst/>
          </a:prstGeom>
          <a:ln w="19050">
            <a:solidFill>
              <a:srgbClr val="5B47FF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9006840" y="2011680"/>
            <a:ext cx="0" cy="146304"/>
          </a:xfrm>
          <a:prstGeom prst="line">
            <a:avLst/>
          </a:prstGeom>
          <a:ln w="19050">
            <a:solidFill>
              <a:srgbClr val="5B47FF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943600" y="1783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lang="uk-UA">
                <a:solidFill>
                  <a:srgbClr val="4632F0"/>
                </a:solidFill>
                <a:latin typeface="Arial"/>
              </a:rPr>
              <a:t>+3x: головне джерело вартості, +$62m</a:t>
            </a:r>
          </a:p>
        </p:txBody>
      </p:sp>
      <p:sp>
        <p:nvSpPr>
          <p:cNvPr id="30" name="Oval 29"/>
          <p:cNvSpPr/>
          <p:nvPr/>
        </p:nvSpPr>
        <p:spPr>
          <a:xfrm>
            <a:off x="6455664" y="2203704"/>
            <a:ext cx="164592" cy="164592"/>
          </a:xfrm>
          <a:prstGeom prst="ellipse">
            <a:avLst/>
          </a:prstGeom>
          <a:solidFill>
            <a:srgbClr val="949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6" y="2185416"/>
            <a:ext cx="201168" cy="201168"/>
          </a:xfrm>
          <a:prstGeom prst="ellipse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79608" y="2212848"/>
            <a:ext cx="146304" cy="146304"/>
          </a:xfrm>
          <a:prstGeom prst="ellipse">
            <a:avLst/>
          </a:prstGeom>
          <a:solidFill>
            <a:srgbClr val="F5F6FA"/>
          </a:solidFill>
          <a:ln w="15875">
            <a:solidFill>
              <a:srgbClr val="1011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239572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6x без плану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3957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lang="uk-UA">
                <a:solidFill>
                  <a:srgbClr val="4632F0"/>
                </a:solidFill>
                <a:latin typeface="Arial"/>
              </a:rPr>
              <a:t>9x за планом, EBITDA LTM ~$94m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1920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~11x медіана, Cavendish 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743200"/>
            <a:ext cx="2679192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2889504"/>
            <a:ext cx="2350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4632F0"/>
                </a:solidFill>
                <a:latin typeface="Arial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309067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lang="uk-UA">
                <a:solidFill>
                  <a:srgbClr val="10111C"/>
                </a:solidFill>
                <a:latin typeface="Arial"/>
              </a:rPr>
              <a:t>Хаб виробництва в ЄС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3419856"/>
            <a:ext cx="23500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Серія в ЄС/НАТО через СП чи контрактного виробника, не завод з нуля: 25% → ≥50% потужностей поза Україною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4169664"/>
            <a:ext cx="23500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Знімає головне заперечення покупців (6x → 9x) і відкриває тендери з локалізацією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681728"/>
            <a:ext cx="23500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lang="uk-UA">
                <a:solidFill>
                  <a:srgbClr val="6B6E87"/>
                </a:solidFill>
                <a:latin typeface="Arial"/>
              </a:rPr>
              <a:t>$10m фонду + ~$5m компанії й партнера · COO International, PMO · 9–12 міс.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3232" y="5074920"/>
            <a:ext cx="2350008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713232" y="5120640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lang="uk-UA">
                <a:solidFill>
                  <a:srgbClr val="4632F0"/>
                </a:solidFill>
                <a:latin typeface="Arial"/>
              </a:rPr>
              <a:t>≥50%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486400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10111C"/>
                </a:solidFill>
                <a:latin typeface="Arial"/>
              </a:rPr>
              <a:t>потужностей поза Україною до міс. 18; перша серія в ЄС на міс. 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7560" y="2743200"/>
            <a:ext cx="2679192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02152" y="2889504"/>
            <a:ext cx="2350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4632F0"/>
                </a:solidFill>
                <a:latin typeface="Arial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2152" y="309067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lang="uk-UA">
                <a:solidFill>
                  <a:srgbClr val="10111C"/>
                </a:solidFill>
                <a:latin typeface="Arial"/>
              </a:rPr>
              <a:t>Довгострокові контракти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2152" y="3419856"/>
            <a:ext cx="23500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Ріст у 2–3-річні рамкові контракти з урядами ЄС/НАТО та інтеграторами; передоплати під локальне виробництво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02152" y="4169664"/>
            <a:ext cx="23500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Видимість виручки: головний драйвер мультиплікатора в обороні; передоплати фінансують оборотку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02152" y="4681728"/>
            <a:ext cx="23500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lang="uk-UA">
                <a:solidFill>
                  <a:srgbClr val="6B6E87"/>
                </a:solidFill>
                <a:latin typeface="Arial"/>
              </a:rPr>
              <a:t>~$1m опексу (BD, тендери) · CEO + комерційний директор · 6–15 міс.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502152" y="5074920"/>
            <a:ext cx="2350008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3502152" y="5120640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lang="uk-UA">
                <a:solidFill>
                  <a:srgbClr val="4632F0"/>
                </a:solidFill>
                <a:latin typeface="Arial"/>
              </a:rPr>
              <a:t>≥1,5x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02152" y="5486400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10111C"/>
                </a:solidFill>
                <a:latin typeface="Arial"/>
              </a:rPr>
              <a:t>портфель замовлень до виручки NTM; ≥2 рамкові угоди до міс. 15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79" y="2743200"/>
            <a:ext cx="2679192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1" y="2889504"/>
            <a:ext cx="2350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4632F0"/>
                </a:solidFill>
                <a:latin typeface="Arial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1071" y="309067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lang="uk-UA">
                <a:solidFill>
                  <a:srgbClr val="10111C"/>
                </a:solidFill>
                <a:latin typeface="Arial"/>
              </a:rPr>
              <a:t>Стійкість бази в Україні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1071" y="3419856"/>
            <a:ext cx="23500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≥3 майданчики (≤35% випуску на одному), запас критичних компонентів на 90 днів, другі постачальники, страхування воєнних ризиків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1071" y="4169664"/>
            <a:ext cx="23500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Захищає EBITDA від ударів і зменшує дисконт за ризик у DD покупця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1071" y="4681728"/>
            <a:ext cx="23500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lang="uk-UA">
                <a:solidFill>
                  <a:srgbClr val="6B6E87"/>
                </a:solidFill>
                <a:latin typeface="Arial"/>
              </a:rPr>
              <a:t>~$3m компанії (capex + запаси) · COO · 3–9 міс.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291071" y="5074920"/>
            <a:ext cx="2350009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291071" y="5120640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lang="uk-UA">
                <a:solidFill>
                  <a:srgbClr val="4632F0"/>
                </a:solidFill>
                <a:latin typeface="Arial"/>
              </a:rPr>
              <a:t>≤35%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1071" y="5486400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10111C"/>
                </a:solidFill>
                <a:latin typeface="Arial"/>
              </a:rPr>
              <a:t>випуску на одному майданчику; ≥90 днів запасу до міс. 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15399" y="2743200"/>
            <a:ext cx="2679192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79991" y="2889504"/>
            <a:ext cx="2350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4632F0"/>
                </a:solidFill>
                <a:latin typeface="Arial"/>
              </a:rPr>
              <a:t>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79991" y="309067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lang="uk-UA">
                <a:solidFill>
                  <a:srgbClr val="10111C"/>
                </a:solidFill>
                <a:latin typeface="Arial"/>
              </a:rPr>
              <a:t>Готовність до продажу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79991" y="3419856"/>
            <a:ext cx="23500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Аудит IFRS (Big4) за 2026–27, комплаєнс експортного контролю й санкцій, чисте IP, CFO з M&amp;A-досвідом, MIP під вихід, VDD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9991" y="4169664"/>
            <a:ext cx="23500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Ширше коло покупців, менше знижок ціни на DD, швидше закриття угоди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79991" y="4681728"/>
            <a:ext cx="23500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lang="uk-UA">
                <a:solidFill>
                  <a:srgbClr val="6B6E87"/>
                </a:solidFill>
                <a:latin typeface="Arial"/>
              </a:rPr>
              <a:t>~$1.5m компанії (аудит, радники) · CFO + команда фонду · 12–15 міс.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079991" y="5074920"/>
            <a:ext cx="2350008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9079991" y="5120640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lang="uk-UA">
                <a:solidFill>
                  <a:srgbClr val="4632F0"/>
                </a:solidFill>
                <a:latin typeface="Arial"/>
              </a:rPr>
              <a:t>≥8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79991" y="5486400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10111C"/>
                </a:solidFill>
                <a:latin typeface="Arial"/>
              </a:rPr>
              <a:t>покупців у першому раунді; аудит IFRS + VDD до міс. 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Модель СП відповідає «Build with Ukraine»: європейський партнер фінансує й дає потужності, українська компанія дає технологію.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gradFill rotWithShape="1">
            <a:gsLst>
              <a:gs pos="0">
                <a:srgbClr val="5B47FF"/>
              </a:gs>
              <a:gs pos="100000">
                <a:srgbClr val="0B84C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 spc="120">
                <a:solidFill>
                  <a:srgbClr val="4632F0"/>
                </a:solidFill>
                <a:latin typeface="Arial"/>
              </a:rPr>
              <a:t>ЕТАП 2 · РИЗИКИ ТА УМОВИ ПЕРЕМИКАННЯ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lang="uk-UA">
                <a:solidFill>
                  <a:srgbClr val="10111C"/>
                </a:solidFill>
                <a:latin typeface="Arial"/>
              </a:rPr>
              <a:t>Кожен ризик має готову відповідь і тригер перемикання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uk-UA">
                <a:solidFill>
                  <a:srgbClr val="565A75"/>
                </a:solidFill>
                <a:latin typeface="Arial"/>
              </a:rPr>
              <a:t>Транш 2 ($6m) виходить лише після серії в ЄС, інакше з міс. 12 переходимо на ліцензування.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648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Case Challenge 3.0 · CC-146</a:t>
            </a:r>
            <a:r>
              <a:rPr sz="900" b="0" lang="uk-UA">
                <a:solidFill>
                  <a:srgbClr val="565A75"/>
                </a:solidFill>
                <a:latin typeface="Arial"/>
              </a:rPr>
              <a:t>  ·  Exit Simulator: стратегія портфеля на 24 місяці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4648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0195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Ймовірність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718303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середня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4718303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висока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77723" y="270205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вплив високий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77723" y="3936491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вплив середній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2194560"/>
            <a:ext cx="1234440" cy="1234440"/>
          </a:xfrm>
          <a:prstGeom prst="rect">
            <a:avLst/>
          </a:prstGeom>
          <a:solidFill>
            <a:srgbClr val="E6E7EF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0552" y="2194560"/>
            <a:ext cx="1234440" cy="1234440"/>
          </a:xfrm>
          <a:prstGeom prst="rect">
            <a:avLst/>
          </a:prstGeom>
          <a:solidFill>
            <a:srgbClr val="FFE7D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" y="3429000"/>
            <a:ext cx="1234440" cy="1234440"/>
          </a:xfrm>
          <a:prstGeom prst="rect">
            <a:avLst/>
          </a:prstGeom>
          <a:solidFill>
            <a:srgbClr val="F0F1F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30552" y="3429000"/>
            <a:ext cx="1234440" cy="1234440"/>
          </a:xfrm>
          <a:prstGeom prst="rect">
            <a:avLst/>
          </a:prstGeom>
          <a:solidFill>
            <a:srgbClr val="E6E7EF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19172" y="2583180"/>
            <a:ext cx="457200" cy="457200"/>
          </a:xfrm>
          <a:prstGeom prst="ellipse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9172" y="25831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uk-UA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1129741" y="2415844"/>
            <a:ext cx="347472" cy="347472"/>
          </a:xfrm>
          <a:prstGeom prst="ellipse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9741" y="24158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lang="uk-UA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1561795" y="2884932"/>
            <a:ext cx="347472" cy="347472"/>
          </a:xfrm>
          <a:prstGeom prst="ellipse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61795" y="28849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lang="uk-UA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1157173" y="3677716"/>
            <a:ext cx="292608" cy="292608"/>
          </a:xfrm>
          <a:prstGeom prst="ellipse">
            <a:avLst/>
          </a:prstGeom>
          <a:solidFill>
            <a:srgbClr val="6B6E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7173" y="36777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lang="uk-UA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Oval 25"/>
          <p:cNvSpPr/>
          <p:nvPr/>
        </p:nvSpPr>
        <p:spPr>
          <a:xfrm>
            <a:off x="1589227" y="4146804"/>
            <a:ext cx="292608" cy="292608"/>
          </a:xfrm>
          <a:prstGeom prst="ellipse">
            <a:avLst/>
          </a:prstGeom>
          <a:solidFill>
            <a:srgbClr val="6B6E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89227" y="414680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lang="uk-UA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0292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Ризик 1 — критичний: його закриває умова траншу 2 і запасний план із ліцензуванням.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182880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565A75"/>
                </a:solidFill>
                <a:latin typeface="Arial"/>
              </a:rPr>
              <a:t>Ризик і відповідь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121408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 lang="uk-UA">
                <a:solidFill>
                  <a:srgbClr val="10111C"/>
                </a:solidFill>
                <a:latin typeface="Arial"/>
              </a:rPr>
              <a:t>1. Затримка експортних дозволів і сертифікації в ЄС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2 країни × 2 партнери паралельно; транші під віхи; запасний план: ліцензування технології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0" y="2816352"/>
            <a:ext cx="4160520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3657600" y="2889503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 lang="uk-UA">
                <a:solidFill>
                  <a:srgbClr val="10111C"/>
                </a:solidFill>
                <a:latin typeface="Arial"/>
              </a:rPr>
              <a:t>2. Перемир’я чи зміна бюджетів знижують попит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Диверсифікація в критичну інфраструктуру й dual-use; індексація цін у контрактах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57600" y="3584448"/>
            <a:ext cx="4160520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3657600" y="365760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 lang="uk-UA">
                <a:solidFill>
                  <a:srgbClr val="10111C"/>
                </a:solidFill>
                <a:latin typeface="Arial"/>
              </a:rPr>
              <a:t>3. Удар по ключовому майданчику в Україні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Розосередження, запаси на 90 днів, страхування; хаб у ЄС як резервна потужність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0" y="4352544"/>
            <a:ext cx="4160520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3657600" y="4425696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 lang="uk-UA">
                <a:solidFill>
                  <a:srgbClr val="10111C"/>
                </a:solidFill>
                <a:latin typeface="Arial"/>
              </a:rPr>
              <a:t>4. Виробництво в ЄС «з’їдає» маржу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Контрактний виробник замість власного заводу; ліміт надбавки до собівартості +10%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57600" y="5120640"/>
            <a:ext cx="4160520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3657600" y="5193792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 lang="uk-UA">
                <a:solidFill>
                  <a:srgbClr val="10111C"/>
                </a:solidFill>
                <a:latin typeface="Arial"/>
              </a:rPr>
              <a:t>5. Засновники не згодні з ціною; відтік ключових людей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565A75"/>
                </a:solidFill>
                <a:latin typeface="Arial"/>
              </a:rPr>
              <a:t>Нижня межа ціни та MIP у перші 100 днів; ретеншн для топ-20 інженерів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182880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565A75"/>
                </a:solidFill>
                <a:latin typeface="Arial"/>
              </a:rPr>
              <a:t>Тригери перемикання, у порядку часу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0" y="2212848"/>
            <a:ext cx="0" cy="3456432"/>
          </a:xfrm>
          <a:prstGeom prst="line">
            <a:avLst/>
          </a:prstGeom>
          <a:ln w="12700">
            <a:solidFill>
              <a:srgbClr val="9496AD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8147304" y="2157984"/>
            <a:ext cx="164592" cy="164592"/>
          </a:xfrm>
          <a:prstGeom prst="diamond">
            <a:avLst/>
          </a:prstGeom>
          <a:solidFill>
            <a:srgbClr val="FF5B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3182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1" lang="uk-UA">
                <a:solidFill>
                  <a:srgbClr val="C2410C"/>
                </a:solidFill>
                <a:latin typeface="Arial"/>
              </a:rPr>
              <a:t>День 60 · Зупинити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E-com: немає мораторію кредиторів → </a:t>
            </a:r>
            <a:r>
              <a:rPr sz="1000" b="1" lang="uk-UA">
                <a:solidFill>
                  <a:srgbClr val="10111C"/>
                </a:solidFill>
                <a:latin typeface="Arial"/>
              </a:rPr>
              <a:t>бриджу немає, pre-pack продаж</a:t>
            </a:r>
          </a:p>
        </p:txBody>
      </p:sp>
      <p:sp>
        <p:nvSpPr>
          <p:cNvPr id="43" name="Diamond 42"/>
          <p:cNvSpPr/>
          <p:nvPr/>
        </p:nvSpPr>
        <p:spPr>
          <a:xfrm>
            <a:off x="8147304" y="2889504"/>
            <a:ext cx="164592" cy="164592"/>
          </a:xfrm>
          <a:prstGeom prst="diamond">
            <a:avLst/>
          </a:prstGeom>
          <a:solidFill>
            <a:srgbClr val="FF5B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2852928"/>
            <a:ext cx="3182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1" lang="uk-UA">
                <a:solidFill>
                  <a:srgbClr val="C2410C"/>
                </a:solidFill>
                <a:latin typeface="Arial"/>
              </a:rPr>
              <a:t>Міс. 12 · Зупинити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Немає серії в ЄС або capex +30% → </a:t>
            </a:r>
            <a:r>
              <a:rPr sz="1000" b="1" lang="uk-UA">
                <a:solidFill>
                  <a:srgbClr val="10111C"/>
                </a:solidFill>
                <a:latin typeface="Arial"/>
              </a:rPr>
              <a:t>заморожуємо транш 2, ліцензування</a:t>
            </a:r>
          </a:p>
        </p:txBody>
      </p:sp>
      <p:sp>
        <p:nvSpPr>
          <p:cNvPr id="45" name="Diamond 44"/>
          <p:cNvSpPr/>
          <p:nvPr/>
        </p:nvSpPr>
        <p:spPr>
          <a:xfrm>
            <a:off x="8147304" y="3621024"/>
            <a:ext cx="164592" cy="164592"/>
          </a:xfrm>
          <a:prstGeom prst="diamond">
            <a:avLst/>
          </a:prstGeom>
          <a:solidFill>
            <a:srgbClr val="FF5B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584448"/>
            <a:ext cx="3182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1" lang="uk-UA">
                <a:solidFill>
                  <a:srgbClr val="C2410C"/>
                </a:solidFill>
                <a:latin typeface="Arial"/>
              </a:rPr>
              <a:t>До міс. 15 · Прискорити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Пропозиція ≥9x LTM EBITDA → </a:t>
            </a:r>
            <a:r>
              <a:rPr sz="1000" b="1" lang="uk-UA">
                <a:solidFill>
                  <a:srgbClr val="10111C"/>
                </a:solidFill>
                <a:latin typeface="Arial"/>
              </a:rPr>
              <a:t>прискорений процес на 3 міс.</a:t>
            </a:r>
          </a:p>
        </p:txBody>
      </p:sp>
      <p:sp>
        <p:nvSpPr>
          <p:cNvPr id="47" name="Diamond 46"/>
          <p:cNvSpPr/>
          <p:nvPr/>
        </p:nvSpPr>
        <p:spPr>
          <a:xfrm>
            <a:off x="8147304" y="4352544"/>
            <a:ext cx="164592" cy="164592"/>
          </a:xfrm>
          <a:prstGeom prst="diamond">
            <a:avLst/>
          </a:prstGeom>
          <a:solidFill>
            <a:srgbClr val="FF5B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4315968"/>
            <a:ext cx="3182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1" lang="uk-UA">
                <a:solidFill>
                  <a:srgbClr val="C2410C"/>
                </a:solidFill>
                <a:latin typeface="Arial"/>
              </a:rPr>
              <a:t>Будь-коли · Прискорити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Перемир’я з гарантіями безпеки → </a:t>
            </a:r>
            <a:r>
              <a:rPr sz="1000" b="1" lang="uk-UA">
                <a:solidFill>
                  <a:srgbClr val="10111C"/>
                </a:solidFill>
                <a:latin typeface="Arial"/>
              </a:rPr>
              <a:t>продаж раніше, на піку попиту</a:t>
            </a:r>
          </a:p>
        </p:txBody>
      </p:sp>
      <p:sp>
        <p:nvSpPr>
          <p:cNvPr id="49" name="Diamond 48"/>
          <p:cNvSpPr/>
          <p:nvPr/>
        </p:nvSpPr>
        <p:spPr>
          <a:xfrm>
            <a:off x="8147304" y="5084064"/>
            <a:ext cx="164592" cy="164592"/>
          </a:xfrm>
          <a:prstGeom prst="diamond">
            <a:avLst/>
          </a:prstGeom>
          <a:solidFill>
            <a:srgbClr val="FF5B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5047488"/>
            <a:ext cx="3182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1" lang="uk-UA">
                <a:solidFill>
                  <a:srgbClr val="C2410C"/>
                </a:solidFill>
                <a:latin typeface="Arial"/>
              </a:rPr>
              <a:t>Щокварталу · Змінити пріоритет</a:t>
            </a:r>
          </a:p>
          <a:p>
            <a:pPr algn="l">
              <a:lnSpc>
                <a:spcPct val="112000"/>
              </a:lnSpc>
            </a:pPr>
            <a:r>
              <a:rPr sz="1000" b="0" lang="uk-UA">
                <a:solidFill>
                  <a:srgbClr val="10111C"/>
                </a:solidFill>
                <a:latin typeface="Arial"/>
              </a:rPr>
              <a:t>Ріст Security &lt;10% р/р два квартали або втрата топ-клієнта → </a:t>
            </a:r>
            <a:r>
              <a:rPr sz="1000" b="1" lang="uk-UA">
                <a:solidFill>
                  <a:srgbClr val="10111C"/>
                </a:solidFill>
                <a:latin typeface="Arial"/>
              </a:rPr>
              <a:t>перегляд фокусу й резерву</a:t>
            </a:r>
            <a:r>
              <a:rPr sz="1000" b="0" lang="uk-UA">
                <a:solidFill>
                  <a:srgbClr val="10111C"/>
                </a:solidFill>
                <a:latin typeface="Arial"/>
              </a:rPr>
              <a:t>. IT: утилізація &lt;65% чи маржа &lt;8% → </a:t>
            </a:r>
            <a:r>
              <a:rPr sz="1000" b="1" lang="uk-UA">
                <a:solidFill>
                  <a:srgbClr val="10111C"/>
                </a:solidFill>
                <a:latin typeface="Arial"/>
              </a:rPr>
              <a:t>продаємо негайно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Тригери переглядає рада щокварталу; ті самі пороги відстежує Telegram-бот Board Alerts (@case_challenge_bot).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gradFill rotWithShape="1">
            <a:gsLst>
              <a:gs pos="0">
                <a:srgbClr val="5B47FF"/>
              </a:gs>
              <a:gs pos="100000">
                <a:srgbClr val="0B84C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 spc="120">
                <a:solidFill>
                  <a:srgbClr val="4632F0"/>
                </a:solidFill>
                <a:latin typeface="Arial"/>
              </a:rPr>
              <a:t>ЕТАП 2 · РОУДМАП І ВИХІД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lang="uk-UA">
                <a:solidFill>
                  <a:srgbClr val="10111C"/>
                </a:solidFill>
                <a:latin typeface="Arial"/>
              </a:rPr>
              <a:t>24 місяці: три послідовні виходи, Security останній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uk-UA">
                <a:solidFill>
                  <a:srgbClr val="565A75"/>
                </a:solidFill>
                <a:latin typeface="Arial"/>
              </a:rPr>
              <a:t>E-commerce продаємо до міс. 15, IT до міс. 16, Security на міс. 23–24, коли хаб у ЄС уже випускає серію.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FE1E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648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Case Challenge 3.0 · CC-146</a:t>
            </a:r>
            <a:r>
              <a:rPr sz="900" b="0" lang="uk-UA">
                <a:solidFill>
                  <a:srgbClr val="565A75"/>
                </a:solidFill>
                <a:latin typeface="Arial"/>
              </a:rPr>
              <a:t>  ·  Exit Simulator: стратегія портфеля на 24 місяці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4648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6 /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737360"/>
            <a:ext cx="1148715" cy="2843784"/>
          </a:xfrm>
          <a:prstGeom prst="rect">
            <a:avLst/>
          </a:prstGeom>
          <a:solidFill>
            <a:srgbClr val="EC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773936"/>
            <a:ext cx="10572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Перші 100 днів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71875" y="1737360"/>
            <a:ext cx="3446145" cy="2843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5027" y="1773936"/>
            <a:ext cx="33547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Міс. 4–12 · лют – жов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8020" y="1737360"/>
            <a:ext cx="4594860" cy="2843784"/>
          </a:xfrm>
          <a:prstGeom prst="rect">
            <a:avLst/>
          </a:prstGeom>
          <a:solidFill>
            <a:srgbClr val="EC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1172" y="1773936"/>
            <a:ext cx="45034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565A75"/>
                </a:solidFill>
                <a:latin typeface="Arial"/>
              </a:rPr>
              <a:t>Міс. 13–24 · лис 2027 – жов 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75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Місяць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8970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7685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5115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3830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 lang="uk-UA">
                <a:solidFill>
                  <a:srgbClr val="C2410C"/>
                </a:solidFill>
                <a:latin typeface="Arial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2545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1260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9975" y="1975104"/>
            <a:ext cx="3829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194560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Security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хаб у ЄС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2231136"/>
            <a:ext cx="6892290" cy="192023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6312" y="2231136"/>
            <a:ext cx="6782562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Партнер → пілотна лінія → серія (міс. 10) → ≥50% поза Україною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459736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Security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контракти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88970" y="2496312"/>
            <a:ext cx="4977765" cy="192023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2122" y="2496312"/>
            <a:ext cx="4868037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≥2 рамкові контракти, портфель ≥1,5x виручки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724912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Security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стійкість УА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2761488"/>
            <a:ext cx="3446145" cy="192023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96312" y="2761488"/>
            <a:ext cx="3336417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Розосередження, запаси 90 днів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90087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Security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готовність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3026663"/>
            <a:ext cx="5743575" cy="192023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6312" y="3026663"/>
            <a:ext cx="5633847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Аудит IFRS, CFO, комплаєнс, VDD (міс. 15)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255263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Security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продаж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83830" y="3291839"/>
            <a:ext cx="3829050" cy="192023"/>
          </a:xfrm>
          <a:prstGeom prst="rect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56982" y="3291839"/>
            <a:ext cx="3719322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Продаж: запуск → підпис → закриття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3520439"/>
            <a:ext cx="11064240" cy="0"/>
          </a:xfrm>
          <a:prstGeom prst="line">
            <a:avLst/>
          </a:prstGeom>
          <a:ln w="6350">
            <a:solidFill>
              <a:srgbClr val="9496AD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548640" y="3520439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E-com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тріаж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23160" y="3557015"/>
            <a:ext cx="1531620" cy="192023"/>
          </a:xfrm>
          <a:prstGeom prst="rect">
            <a:avLst/>
          </a:prstGeom>
          <a:solidFill>
            <a:srgbClr val="949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6312" y="3557015"/>
            <a:ext cx="1421892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Тріаж + бридж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785615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E-com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продаж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37685" y="3822191"/>
            <a:ext cx="3829050" cy="192023"/>
          </a:xfrm>
          <a:prstGeom prst="rect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10837" y="3822191"/>
            <a:ext cx="3719322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Продаж стратегу, закриття ≤ міс. 15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4050791"/>
            <a:ext cx="11064240" cy="0"/>
          </a:xfrm>
          <a:prstGeom prst="line">
            <a:avLst/>
          </a:prstGeom>
          <a:ln w="6350">
            <a:solidFill>
              <a:srgbClr val="9496AD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48640" y="4050791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IT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оптимізація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087368"/>
            <a:ext cx="3063240" cy="192023"/>
          </a:xfrm>
          <a:prstGeom prst="rect">
            <a:avLst/>
          </a:prstGeom>
          <a:solidFill>
            <a:srgbClr val="949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96312" y="4087368"/>
            <a:ext cx="2953512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−300 FTE бенчу, ціни,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315968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IT </a:t>
            </a:r>
            <a:r>
              <a:rPr sz="1000" b="0" lang="uk-UA">
                <a:solidFill>
                  <a:srgbClr val="565A75"/>
                </a:solidFill>
                <a:latin typeface="Arial"/>
              </a:rPr>
              <a:t>продаж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352544"/>
            <a:ext cx="3063240" cy="192023"/>
          </a:xfrm>
          <a:prstGeom prst="rect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9552" y="4352544"/>
            <a:ext cx="2953512" cy="19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lang="uk-UA">
                <a:solidFill>
                  <a:srgbClr val="FFFFFF"/>
                </a:solidFill>
                <a:latin typeface="Arial"/>
              </a:rPr>
              <a:t>Продаж, закриття ≤ міс. 16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83830" y="2176272"/>
            <a:ext cx="0" cy="2404872"/>
          </a:xfrm>
          <a:prstGeom prst="line">
            <a:avLst/>
          </a:prstGeom>
          <a:ln w="19050">
            <a:solidFill>
              <a:srgbClr val="FF5B1F"/>
            </a:solidFill>
            <a:prstDash val="dash"/>
          </a:ln>
        </p:spPr>
      </p:cxnSp>
      <p:sp>
        <p:nvSpPr>
          <p:cNvPr id="55" name="Rectangle 54"/>
          <p:cNvSpPr/>
          <p:nvPr/>
        </p:nvSpPr>
        <p:spPr>
          <a:xfrm>
            <a:off x="548640" y="4718303"/>
            <a:ext cx="201168" cy="109728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59" y="4672583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створення вартості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48840" y="4718303"/>
            <a:ext cx="201168" cy="109728"/>
          </a:xfrm>
          <a:prstGeom prst="rect">
            <a:avLst/>
          </a:prstGeom>
          <a:solidFill>
            <a:srgbClr val="1011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23160" y="4672583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продаж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39" y="4718303"/>
            <a:ext cx="201168" cy="109728"/>
          </a:xfrm>
          <a:prstGeom prst="rect">
            <a:avLst/>
          </a:prstGeom>
          <a:solidFill>
            <a:srgbClr val="949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23359" y="4672583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підтримка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40679" y="4672583"/>
            <a:ext cx="0" cy="201168"/>
          </a:xfrm>
          <a:prstGeom prst="line">
            <a:avLst/>
          </a:prstGeom>
          <a:ln w="19050">
            <a:solidFill>
              <a:srgbClr val="FF5B1F"/>
            </a:solidFill>
            <a:prstDash val="dash"/>
          </a:ln>
        </p:spPr>
      </p:cxnSp>
      <p:sp>
        <p:nvSpPr>
          <p:cNvPr id="62" name="TextBox 61"/>
          <p:cNvSpPr txBox="1"/>
          <p:nvPr/>
        </p:nvSpPr>
        <p:spPr>
          <a:xfrm>
            <a:off x="5577840" y="4672583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lang="uk-UA">
                <a:solidFill>
                  <a:srgbClr val="565A75"/>
                </a:solidFill>
                <a:latin typeface="Arial"/>
              </a:rPr>
              <a:t>старт продажу Security, міс. 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138928"/>
            <a:ext cx="7589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Віхи Security: </a:t>
            </a:r>
            <a:r>
              <a:rPr sz="1000" b="0" lang="uk-UA">
                <a:solidFill>
                  <a:srgbClr val="10111C"/>
                </a:solidFill>
                <a:latin typeface="Arial"/>
              </a:rPr>
              <a:t>міс. 3 транш $4m; міс. 9 транш $6m; міс. 10 перша серія в ЄС; міс. 15 запуск продажу (січ 2028); міс. 17 індикативні пропозиції; міс. 20 підписання; міс. 23–24 дозволи FDI й закриття.</a:t>
            </a:r>
          </a:p>
          <a:p>
            <a:pPr algn="l">
              <a:lnSpc>
                <a:spcPct val="112000"/>
              </a:lnSpc>
            </a:pPr>
            <a:r>
              <a:rPr sz="1000" b="1" lang="uk-UA">
                <a:solidFill>
                  <a:srgbClr val="10111C"/>
                </a:solidFill>
                <a:latin typeface="Arial"/>
              </a:rPr>
              <a:t>Найімовірніший покупець. </a:t>
            </a:r>
            <a:r>
              <a:rPr sz="1000" b="1" lang="uk-UA">
                <a:solidFill>
                  <a:srgbClr val="4632F0"/>
                </a:solidFill>
                <a:latin typeface="Arial"/>
              </a:rPr>
              <a:t>Security: </a:t>
            </a:r>
            <a:r>
              <a:rPr sz="1000" b="0" lang="uk-UA">
                <a:solidFill>
                  <a:srgbClr val="10111C"/>
                </a:solidFill>
                <a:latin typeface="Arial"/>
              </a:rPr>
              <a:t>європейський оборонний стратег (prime чи mid-cap консолідатор), технологія + виробництво в НАТО. </a:t>
            </a:r>
            <a:r>
              <a:rPr sz="1000" b="1" lang="uk-UA">
                <a:solidFill>
                  <a:srgbClr val="10111C"/>
                </a:solidFill>
                <a:latin typeface="Arial"/>
              </a:rPr>
              <a:t>IT: </a:t>
            </a:r>
            <a:r>
              <a:rPr sz="1000" b="0" lang="uk-UA">
                <a:solidFill>
                  <a:srgbClr val="10111C"/>
                </a:solidFill>
                <a:latin typeface="Arial"/>
              </a:rPr>
              <a:t>сервісний консолідатор чи PE. </a:t>
            </a:r>
            <a:r>
              <a:rPr sz="1000" b="1" lang="uk-UA">
                <a:solidFill>
                  <a:srgbClr val="10111C"/>
                </a:solidFill>
                <a:latin typeface="Arial"/>
              </a:rPr>
              <a:t>E-com: </a:t>
            </a:r>
            <a:r>
              <a:rPr sz="1000" b="0" lang="uk-UA">
                <a:solidFill>
                  <a:srgbClr val="10111C"/>
                </a:solidFill>
                <a:latin typeface="Arial"/>
              </a:rPr>
              <a:t>рітейлер або маркетплейс.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66760" y="5074920"/>
            <a:ext cx="327355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5166360"/>
            <a:ext cx="1005840" cy="10058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601200" y="5193792"/>
            <a:ext cx="19476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lang="uk-UA">
                <a:solidFill>
                  <a:srgbClr val="10111C"/>
                </a:solidFill>
                <a:latin typeface="Arial"/>
              </a:rPr>
              <a:t>QR: перевірте план самі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0" lang="uk-UA">
                <a:solidFill>
                  <a:srgbClr val="4632F0"/>
                </a:solidFill>
                <a:latin typeface="Arial"/>
                <a:hlinkClick r:id="rId3"/>
              </a:rPr>
              <a:t>case-challenge-3-0.vercel.app</a:t>
            </a:r>
          </a:p>
          <a:p>
            <a:pPr algn="l">
              <a:lnSpc>
                <a:spcPct val="112000"/>
              </a:lnSpc>
            </a:pPr>
            <a:r>
              <a:rPr sz="850" b="0" lang="uk-UA">
                <a:solidFill>
                  <a:srgbClr val="565A75"/>
                </a:solidFill>
                <a:latin typeface="Arial"/>
              </a:rPr>
              <a:t>Усі цифри деку: кожне припущення можна змінити, сценарій зберігається в посиланні.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Exit Simulator: стратегія портфеля</dc:title>
  <dc:subject/>
  <dc:creator>Case Challenge 3.0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